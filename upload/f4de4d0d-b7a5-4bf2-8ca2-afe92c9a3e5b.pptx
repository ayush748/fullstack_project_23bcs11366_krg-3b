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83" r:id="rId5"/>
    <p:sldId id="315" r:id="rId6"/>
    <p:sldId id="363" r:id="rId7"/>
    <p:sldId id="522" r:id="rId8"/>
    <p:sldId id="542" r:id="rId9"/>
    <p:sldId id="559" r:id="rId10"/>
    <p:sldId id="523" r:id="rId11"/>
    <p:sldId id="524" r:id="rId12"/>
    <p:sldId id="567" r:id="rId13"/>
    <p:sldId id="568" r:id="rId14"/>
    <p:sldId id="569" r:id="rId15"/>
    <p:sldId id="492" r:id="rId16"/>
    <p:sldId id="560" r:id="rId17"/>
    <p:sldId id="561" r:id="rId18"/>
    <p:sldId id="562" r:id="rId19"/>
    <p:sldId id="543" r:id="rId20"/>
    <p:sldId id="563" r:id="rId21"/>
    <p:sldId id="525" r:id="rId22"/>
    <p:sldId id="570" r:id="rId23"/>
    <p:sldId id="571" r:id="rId24"/>
    <p:sldId id="572" r:id="rId25"/>
    <p:sldId id="292" r:id="rId26"/>
    <p:sldId id="287" r:id="rId27"/>
    <p:sldId id="288" r:id="rId28"/>
    <p:sldId id="300" r:id="rId29"/>
    <p:sldId id="301" r:id="rId30"/>
    <p:sldId id="307" r:id="rId31"/>
    <p:sldId id="305" r:id="rId32"/>
  </p:sldIdLst>
  <p:sldSz cx="9144000" cy="5143500" type="screen16x9"/>
  <p:notesSz cx="6858000" cy="9144000"/>
  <p:embeddedFontLst>
    <p:embeddedFont>
      <p:font typeface="Lato" panose="020F0502020204030203"/>
      <p:regular r:id="rId36"/>
    </p:embeddedFont>
    <p:embeddedFont>
      <p:font typeface="Arial Black" panose="020B0A04020102020204"/>
      <p:bold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Verdana" panose="020B0604030504040204"/>
      <p:regular r:id="rId42"/>
      <p:bold r:id="rId43"/>
      <p:italic r:id="rId44"/>
      <p:boldItalic r:id="rId45"/>
    </p:embeddedFont>
    <p:embeddedFont>
      <p:font typeface="Vladimir Script" panose="03050402040407070305" pitchFamily="66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3" userDrawn="1">
          <p15:clr>
            <a:srgbClr val="747775"/>
          </p15:clr>
        </p15:guide>
        <p15:guide id="2" pos="296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86" y="84"/>
      </p:cViewPr>
      <p:guideLst>
        <p:guide orient="horz" pos="1683"/>
        <p:guide pos="29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font" Target="fonts/font11.fntdata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Content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pic>
        <p:nvPicPr>
          <p:cNvPr id="3" name="Picture 2" descr="A red rectangular sign with a logo and a globe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295804"/>
            <a:ext cx="8100000" cy="594000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 sz="13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20065" y="698500"/>
            <a:ext cx="8422005" cy="413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 panose="020B0A04020102020204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 panose="020B0A04020102020204"/>
              </a:rPr>
              <a:t>UNIVERSITY INSTITUTE OF </a:t>
            </a:r>
            <a:r>
              <a:rPr lang="en-IN" alt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 panose="020B0A04020102020204"/>
              </a:rPr>
              <a:t>ENGINEERING</a:t>
            </a:r>
            <a:endParaRPr sz="32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None/>
            </a:pPr>
            <a:r>
              <a:rPr lang="en-IN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 panose="020B0A04020102020204"/>
              </a:rPr>
              <a:t>Computer Science Engineering</a:t>
            </a:r>
            <a:endParaRPr lang="en-IN" sz="32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Black" panose="020B0A040201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None/>
            </a:pPr>
            <a:r>
              <a:rPr lang="en-IN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Bachelor of Engineering </a:t>
            </a:r>
            <a:endParaRPr lang="en-IN" sz="2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 panose="02020603050405020304"/>
              <a:buNone/>
            </a:pPr>
            <a:r>
              <a:rPr lang="en-GB" sz="2000" dirty="0">
                <a:solidFill>
                  <a:schemeClr val="bg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BE-CSE/IT</a:t>
            </a:r>
            <a:r>
              <a:rPr lang="en-IN" altLang="en-GB" sz="2000" dirty="0">
                <a:solidFill>
                  <a:schemeClr val="bg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(5th Sem)</a:t>
            </a:r>
            <a:endParaRPr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IN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Project Based Learning in Java</a:t>
            </a:r>
            <a:endParaRPr lang="en-IN" sz="24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(</a:t>
            </a:r>
            <a:r>
              <a:rPr lang="en-US" alt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23CSH-304/23ITH-304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)</a:t>
            </a:r>
            <a:endParaRPr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  </a:t>
            </a:r>
            <a:r>
              <a:rPr lang="en-IN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Chapter No.    </a:t>
            </a:r>
            <a:r>
              <a:rPr lang="en-IN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  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Lecture No.</a:t>
            </a:r>
            <a:r>
              <a:rPr lang="en-IN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	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</a:t>
            </a:r>
            <a:r>
              <a:rPr lang="en-IN" alt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sym typeface="+mn-ea"/>
              </a:rPr>
              <a:t>JSP declaration, JSP directives, JSP </a:t>
            </a:r>
            <a:r>
              <a:rPr lang="en-US" dirty="0" err="1">
                <a:sym typeface="+mn-ea"/>
              </a:rPr>
              <a:t>Scriptlets</a:t>
            </a:r>
            <a:r>
              <a:rPr lang="en-US" dirty="0">
                <a:sym typeface="+mn-ea"/>
              </a:rPr>
              <a:t> (CO 5)</a:t>
            </a:r>
            <a:endParaRPr lang="en-US" dirty="0">
              <a:sym typeface="+mn-ea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and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E_Code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Designation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  <a:endParaRPr lang="en-IN" sz="1800" b="1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Learning Objectives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29565" y="1312545"/>
            <a:ext cx="8695690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lecture, we will discuss: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 algn="l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ym typeface="+mn-ea"/>
              </a:rPr>
              <a:t>JSP declaration, JSP directives, JSP </a:t>
            </a:r>
            <a:r>
              <a:rPr lang="en-US" sz="2000" dirty="0" err="1">
                <a:sym typeface="+mn-ea"/>
              </a:rPr>
              <a:t>Scriptlets</a:t>
            </a:r>
            <a:r>
              <a:rPr lang="en-US" sz="2000" dirty="0">
                <a:sym typeface="+mn-ea"/>
              </a:rPr>
              <a:t> </a:t>
            </a:r>
            <a:endParaRPr lang="en-US" sz="20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Recap of Previous Lecture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66725" y="1082675"/>
            <a:ext cx="8558530" cy="31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</a:t>
            </a: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previous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lecture</a:t>
            </a: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we discussed:</a:t>
            </a:r>
            <a:endParaRPr lang="en-US" sz="24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4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Configuring project using servlet, Servlet Config and Servlet Mapping </a:t>
            </a:r>
            <a:endParaRPr lang="en-US" sz="24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br>
              <a:rPr lang="en-US" sz="2400" b="1" dirty="0">
                <a:sym typeface="+mn-ea"/>
              </a:rPr>
            </a:br>
            <a:br>
              <a:rPr lang="en-US" sz="2400" b="1" dirty="0">
                <a:sym typeface="+mn-ea"/>
              </a:rPr>
            </a:br>
            <a:br>
              <a:rPr lang="en-US" sz="2400" b="1" dirty="0">
                <a:sym typeface="+mn-ea"/>
              </a:rPr>
            </a:br>
            <a:endParaRPr lang="en-US" sz="2400" i="0" u="none" strike="noStrike" cap="none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0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510654" y="347826"/>
            <a:ext cx="8338892" cy="2513316"/>
            <a:chOff x="0" y="-2062417"/>
            <a:chExt cx="5622597" cy="2513316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85071" y="-206241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ym typeface="+mn-ea"/>
                </a:rPr>
                <a:t>What is JSP?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895985" y="1402715"/>
            <a:ext cx="7626985" cy="183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93700" marR="5080" indent="-381635" algn="just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stands for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 Server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Pages,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invented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Sun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allow the easy creation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server side HTML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pages.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marR="12700" indent="-38163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lies in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presentation tier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 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server,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the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responsibility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HTML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content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that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needs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browser.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also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additional responsibility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pass 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requests to the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through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JavaBeans,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when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required.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Why JSP?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823595" y="108267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93700" indent="-3816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393700" algn="l"/>
                <a:tab pos="3943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performance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816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93700" algn="l"/>
                <a:tab pos="3943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Convenient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code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against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816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93700" algn="l"/>
                <a:tab pos="3943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Separates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presentation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content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816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93700" algn="l"/>
                <a:tab pos="3943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Powered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575"/>
              </a:spcBef>
              <a:buChar char="–"/>
              <a:tabLst>
                <a:tab pos="812800" algn="l"/>
                <a:tab pos="8134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access to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580"/>
              </a:spcBef>
              <a:buChar char="–"/>
              <a:tabLst>
                <a:tab pos="812800" algn="l"/>
                <a:tab pos="8134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access to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J2EE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APIsa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3535">
              <a:lnSpc>
                <a:spcPct val="100000"/>
              </a:lnSpc>
              <a:spcBef>
                <a:spcPts val="575"/>
              </a:spcBef>
              <a:buChar char="–"/>
              <a:tabLst>
                <a:tab pos="812800" algn="l"/>
                <a:tab pos="813435" algn="l"/>
              </a:tabLst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Inherent Platform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independence</a:t>
            </a: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564380" y="1858645"/>
            <a:ext cx="4049395" cy="1426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ym typeface="+mn-ea"/>
                </a:rPr>
                <a:t>JSP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91630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065" indent="0">
              <a:lnSpc>
                <a:spcPct val="100000"/>
              </a:lnSpc>
              <a:spcBef>
                <a:spcPts val="95"/>
              </a:spcBef>
              <a:buNone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Creating JSP in Eclipse IDE with Tomcat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31775">
              <a:lnSpc>
                <a:spcPct val="100000"/>
              </a:lnSpc>
              <a:spcBef>
                <a:spcPts val="95"/>
              </a:spcBef>
              <a:buChar char="•"/>
              <a:tabLst>
                <a:tab pos="243840" algn="l"/>
                <a:tab pos="24447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43840" indent="-231775">
              <a:lnSpc>
                <a:spcPct val="100000"/>
              </a:lnSpc>
              <a:spcBef>
                <a:spcPts val="95"/>
              </a:spcBef>
              <a:buChar char="•"/>
              <a:tabLst>
                <a:tab pos="243840" algn="l"/>
                <a:tab pos="244475" algn="l"/>
              </a:tabLs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43840" indent="-231775">
              <a:lnSpc>
                <a:spcPct val="100000"/>
              </a:lnSpc>
              <a:spcBef>
                <a:spcPts val="9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a Dynamic web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31775">
              <a:lnSpc>
                <a:spcPct val="100000"/>
              </a:lnSpc>
              <a:spcBef>
                <a:spcPts val="9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31775">
              <a:lnSpc>
                <a:spcPct val="100000"/>
              </a:lnSpc>
              <a:spcBef>
                <a:spcPts val="9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start tomcat server and deploy the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en-US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ym typeface="+mn-ea"/>
                </a:rPr>
                <a:t>JSP Scriptlet tag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91630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Scripting elements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scripting elements provides the ability to insert java code inside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three types of scripting elements: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scriptlet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tag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expression tag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declaration tag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endParaRPr lang="en-US" altLang="en-US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scriptlet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used to execute java source code in JSP.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is as follows: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&lt;%  java source code %&gt; </a:t>
            </a:r>
            <a:endParaRPr lang="en-US" altLang="en-US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748030" y="218440"/>
            <a:ext cx="8277225" cy="4445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06475" y="662940"/>
            <a:ext cx="573595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buNone/>
            </a:pP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expression tag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code placed within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expression 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is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written to the output stream of the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you need not write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out.print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() to write data. It is mainly used to print the values of variable or method.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of JSP expression tag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%=  statement %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Declaration Tag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declaration 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is used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declare fields and 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code written inside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declaration tag is placed outside the service() method of auto generated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it doesn't get memory at each request.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of JSP declaration tag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syntax of the declaration tag is as follows: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%!  field or method declaration %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&gt;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Implicit Objects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624205" y="91757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 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implicit objects. These objects are created by the web container that are available to all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available implicit objects are out, request,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session, application etc.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list of the 9 implicit objects is given below: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3840" indent="-231775" algn="l">
              <a:lnSpc>
                <a:spcPct val="15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endParaRPr lang="en-US" altLang="en-US" kern="1200" spc="-7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73835" y="2300605"/>
          <a:ext cx="5372100" cy="2654300"/>
        </p:xfrm>
        <a:graphic>
          <a:graphicData uri="http://schemas.openxmlformats.org/drawingml/2006/table">
            <a:tbl>
              <a:tblPr/>
              <a:tblGrid>
                <a:gridCol w="2686050"/>
                <a:gridCol w="2686050"/>
              </a:tblGrid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Object</a:t>
                      </a:r>
                      <a:endParaRPr lang="en-US" sz="13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Type</a:t>
                      </a:r>
                      <a:endParaRPr lang="en-US" sz="1300" b="1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D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out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JspWriter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request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HttpServletRequest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response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HttpServletResponse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config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ServletConfig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application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ServletContext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session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HttpSession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pageContext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PageContext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page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Object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E1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algn="ctr" fontAlgn="t"/>
                      <a:r>
                        <a:rPr lang="en-US" sz="1300" b="0" i="0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exception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t"/>
                      <a:r>
                        <a:rPr lang="en-US" sz="1300" b="0" i="0" dirty="0" err="1">
                          <a:solidFill>
                            <a:srgbClr val="000000"/>
                          </a:solidFill>
                          <a:latin typeface="Verdana" panose="020B0604030504040204"/>
                        </a:rPr>
                        <a:t>Throwable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Verdana" panose="020B0604030504040204"/>
                      </a:endParaRPr>
                    </a:p>
                  </a:txBody>
                  <a:tcPr marL="33950" marR="33950" marT="33950" marB="33950">
                    <a:lnL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C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Implicit Objects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624205" y="91757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out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writing any data to the buffer, JSP provides an implicit object named out. It is the object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JspWriter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request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 JSP request is an implicit object of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HttpServletRequest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i.e. created for each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request by the web container. It can be used to get request information such as parameter, header information, remote address, server name, server port, content type, character encoding etc.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can also be used to set, get and remove attributes from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request scope.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indent="0" algn="l">
              <a:lnSpc>
                <a:spcPct val="150000"/>
              </a:lnSpc>
              <a:spcBef>
                <a:spcPts val="105"/>
              </a:spcBef>
              <a:buNone/>
              <a:tabLst>
                <a:tab pos="243840" algn="l"/>
                <a:tab pos="24447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response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indent="0" algn="l">
              <a:lnSpc>
                <a:spcPct val="150000"/>
              </a:lnSpc>
              <a:spcBef>
                <a:spcPts val="105"/>
              </a:spcBef>
              <a:buNone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JSP, response is an implicit object of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HttpServletResponse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indent="0" algn="l">
              <a:lnSpc>
                <a:spcPct val="150000"/>
              </a:lnSpc>
              <a:spcBef>
                <a:spcPts val="105"/>
              </a:spcBef>
              <a:buNone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instance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HttpServletResponse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created by the web container for each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request.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indent="0" algn="l">
              <a:lnSpc>
                <a:spcPct val="150000"/>
              </a:lnSpc>
              <a:spcBef>
                <a:spcPts val="105"/>
              </a:spcBef>
              <a:buNone/>
              <a:tabLst>
                <a:tab pos="243840" algn="l"/>
                <a:tab pos="24447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can be used to add or manipulate response such as redirect response to another resource, send error etc.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indent="0" algn="l">
              <a:lnSpc>
                <a:spcPct val="150000"/>
              </a:lnSpc>
              <a:spcBef>
                <a:spcPts val="105"/>
              </a:spcBef>
              <a:buNone/>
              <a:tabLst>
                <a:tab pos="243840" algn="l"/>
                <a:tab pos="244475" algn="l"/>
              </a:tabLst>
            </a:pPr>
            <a:endParaRPr lang="en-US" altLang="en-US" kern="1200" spc="-7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Implicit Objects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624205" y="91757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config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implicit object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JSP,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an implicit object of type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object can be used to get initialization parameter for a particular JSP page.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object is created by the web container for each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Generally, it is used to get initialization parameter from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web.xml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application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JSP, application is an implicit object of type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instance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ServletContext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is created only once by the web container when application or project is deployed on the server.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object can be used to get initialization parameter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configuaration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file (web.xml). It can also be used to get, set or remove attribute from the application scope.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initialization parameter can be used by all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en-US" kern="1200" spc="-7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Implicit Objects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624205" y="917575"/>
            <a:ext cx="7077710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JSP, session is an implicit object of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Java developer can use this object to set, get or remove attribute or to get session information.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of session implicit object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en-US" kern="1200" spc="-7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4205" y="2446020"/>
            <a:ext cx="33566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i="1" dirty="0">
                <a:sym typeface="+mn-ea"/>
              </a:rPr>
              <a:t>Index.html</a:t>
            </a:r>
            <a:endParaRPr lang="en-US" b="1" i="1" dirty="0"/>
          </a:p>
          <a:p>
            <a:r>
              <a:rPr lang="en-US" dirty="0">
                <a:sym typeface="+mn-ea"/>
              </a:rPr>
              <a:t>&lt;html&gt;  </a:t>
            </a:r>
            <a:endParaRPr lang="en-US" dirty="0"/>
          </a:p>
          <a:p>
            <a:r>
              <a:rPr lang="en-US" dirty="0">
                <a:sym typeface="+mn-ea"/>
              </a:rPr>
              <a:t>&lt;body&gt;  </a:t>
            </a:r>
            <a:endParaRPr lang="en-US" dirty="0"/>
          </a:p>
          <a:p>
            <a:r>
              <a:rPr lang="en-US" dirty="0">
                <a:sym typeface="+mn-ea"/>
              </a:rPr>
              <a:t>&lt;form action="welcome.jsp"&gt;  </a:t>
            </a:r>
            <a:endParaRPr lang="en-US" dirty="0"/>
          </a:p>
          <a:p>
            <a:r>
              <a:rPr lang="en-US" dirty="0">
                <a:sym typeface="+mn-ea"/>
              </a:rPr>
              <a:t>&lt;input type="text" name="</a:t>
            </a:r>
            <a:r>
              <a:rPr lang="en-US" dirty="0" err="1">
                <a:sym typeface="+mn-ea"/>
              </a:rPr>
              <a:t>uname</a:t>
            </a:r>
            <a:r>
              <a:rPr lang="en-US" dirty="0">
                <a:sym typeface="+mn-ea"/>
              </a:rPr>
              <a:t>"&gt;  </a:t>
            </a:r>
            <a:endParaRPr lang="en-US" dirty="0"/>
          </a:p>
          <a:p>
            <a:r>
              <a:rPr lang="en-US" dirty="0">
                <a:sym typeface="+mn-ea"/>
              </a:rPr>
              <a:t>&lt;input type="submit" value="go"&gt;&lt;</a:t>
            </a:r>
            <a:r>
              <a:rPr lang="en-US" dirty="0" err="1">
                <a:sym typeface="+mn-ea"/>
              </a:rPr>
              <a:t>br</a:t>
            </a:r>
            <a:r>
              <a:rPr lang="en-US" dirty="0">
                <a:sym typeface="+mn-ea"/>
              </a:rPr>
              <a:t>/&gt;  </a:t>
            </a:r>
            <a:endParaRPr lang="en-US" dirty="0"/>
          </a:p>
          <a:p>
            <a:r>
              <a:rPr lang="en-US" dirty="0">
                <a:sym typeface="+mn-ea"/>
              </a:rPr>
              <a:t>&lt;/form&gt;  </a:t>
            </a:r>
            <a:endParaRPr lang="en-US" dirty="0"/>
          </a:p>
          <a:p>
            <a:r>
              <a:rPr lang="en-US" dirty="0">
                <a:sym typeface="+mn-ea"/>
              </a:rPr>
              <a:t>&lt;/body&gt;  </a:t>
            </a:r>
            <a:endParaRPr lang="en-US" dirty="0"/>
          </a:p>
          <a:p>
            <a:r>
              <a:rPr lang="en-US" dirty="0">
                <a:sym typeface="+mn-ea"/>
              </a:rPr>
              <a:t>&lt;/html&gt;  </a:t>
            </a:r>
            <a:endParaRPr lang="en-US" dirty="0"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06545" y="2337633"/>
            <a:ext cx="4572000" cy="34163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b="1" i="1" dirty="0"/>
              <a:t>Welcome.jsp</a:t>
            </a:r>
            <a:endParaRPr lang="en-US" b="1" i="1" dirty="0"/>
          </a:p>
          <a:p>
            <a:r>
              <a:rPr lang="en-US" dirty="0"/>
              <a:t>&lt;html&gt;  </a:t>
            </a:r>
            <a:endParaRPr lang="en-US" dirty="0"/>
          </a:p>
          <a:p>
            <a:r>
              <a:rPr lang="en-US" dirty="0"/>
              <a:t>&lt;body&gt;  </a:t>
            </a:r>
            <a:endParaRPr lang="en-US" dirty="0"/>
          </a:p>
          <a:p>
            <a:r>
              <a:rPr lang="en-US" dirty="0"/>
              <a:t>&lt;%   </a:t>
            </a:r>
            <a:endParaRPr lang="en-US" dirty="0"/>
          </a:p>
          <a:p>
            <a:r>
              <a:rPr lang="en-US" dirty="0"/>
              <a:t>String name=</a:t>
            </a:r>
            <a:r>
              <a:rPr lang="en-US" dirty="0" err="1"/>
              <a:t>request.getParameter</a:t>
            </a:r>
            <a:r>
              <a:rPr lang="en-US" dirty="0"/>
              <a:t>("</a:t>
            </a:r>
            <a:r>
              <a:rPr lang="en-US" dirty="0" err="1"/>
              <a:t>uname</a:t>
            </a:r>
            <a:r>
              <a:rPr lang="en-US" dirty="0"/>
              <a:t>");  </a:t>
            </a:r>
            <a:endParaRPr lang="en-US" dirty="0"/>
          </a:p>
          <a:p>
            <a:r>
              <a:rPr lang="en-US" dirty="0" err="1"/>
              <a:t>out.print</a:t>
            </a:r>
            <a:r>
              <a:rPr lang="en-US" dirty="0"/>
              <a:t>("Welcome "+name);  </a:t>
            </a:r>
            <a:endParaRPr lang="en-US" dirty="0"/>
          </a:p>
          <a:p>
            <a:r>
              <a:rPr lang="en-US" dirty="0"/>
              <a:t> </a:t>
            </a:r>
            <a:r>
              <a:rPr lang="en-US" dirty="0" err="1"/>
              <a:t>session.setAttribute</a:t>
            </a:r>
            <a:r>
              <a:rPr lang="en-US" dirty="0"/>
              <a:t>("</a:t>
            </a:r>
            <a:r>
              <a:rPr lang="en-US" dirty="0" err="1"/>
              <a:t>user",name</a:t>
            </a:r>
            <a:r>
              <a:rPr lang="en-US" dirty="0"/>
              <a:t>);  </a:t>
            </a:r>
            <a:endParaRPr lang="en-US" dirty="0"/>
          </a:p>
          <a:p>
            <a:r>
              <a:rPr lang="en-US" dirty="0"/>
              <a:t> &lt;a </a:t>
            </a:r>
            <a:r>
              <a:rPr lang="en-US" dirty="0" err="1"/>
              <a:t>href</a:t>
            </a:r>
            <a:r>
              <a:rPr lang="en-US" dirty="0"/>
              <a:t>="second.jsp"&gt;second </a:t>
            </a:r>
            <a:r>
              <a:rPr lang="en-US" dirty="0" err="1"/>
              <a:t>jsp</a:t>
            </a:r>
            <a:r>
              <a:rPr lang="en-US" dirty="0"/>
              <a:t> page&lt;/a&gt; %&gt;  </a:t>
            </a:r>
            <a:endParaRPr lang="en-US" dirty="0"/>
          </a:p>
          <a:p>
            <a:r>
              <a:rPr lang="en-US" dirty="0"/>
              <a:t>&lt;/body&gt;  </a:t>
            </a:r>
            <a:endParaRPr lang="en-US" dirty="0"/>
          </a:p>
          <a:p>
            <a:r>
              <a:rPr lang="en-US" dirty="0"/>
              <a:t>&lt;/html&gt;  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5"/>
          <p:cNvSpPr txBox="1"/>
          <p:nvPr/>
        </p:nvSpPr>
        <p:spPr>
          <a:xfrm>
            <a:off x="889635" y="596900"/>
            <a:ext cx="4572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buNone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second.jsp</a:t>
            </a: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&lt;html&gt;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&lt;body&gt;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&lt;% 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String name=(String)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session.getAttribute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("user");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out.print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("Hello "+name);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%&gt;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&lt;/body&gt; 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&lt;/html&gt;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71905" y="850265"/>
            <a:ext cx="3371850" cy="385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94105" y="754380"/>
            <a:ext cx="4292600" cy="2202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ym typeface="+mn-ea"/>
                </a:rPr>
                <a:t>Exception Implicit Object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45820" y="903605"/>
            <a:ext cx="750443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exception implicit object</a:t>
            </a:r>
            <a:endParaRPr lang="en-US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JSP, exception is an implicit object of type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java.lang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Throwable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class. This object can be used to print the exception. But it can only be used in error pages.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better to learn it after page directive. Let's see a simple example: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of exception implicit object: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error.jsp</a:t>
            </a:r>
            <a:endParaRPr lang="en-US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&lt;%@ page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isErrorPage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="true" %&gt;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&lt;html&gt;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&lt;body&gt;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Sorry following exception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occured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:&lt;%= exception %&gt;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&lt;/body&gt;  </a:t>
            </a:r>
            <a:endParaRPr lang="en-US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&lt;/html&gt;  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535940" y="987297"/>
            <a:ext cx="8072120" cy="22212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of exception handling 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 the elements of page directive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case, you must define and create a page to handle the exceptions, as in the error.jsp page.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pages where may occur exception, define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errorPage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attribute of page directive, as in the process.jsp page.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3 files: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index9.jsp for input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process9.jsp for dividing the two numbers and displaying the result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error9.jsp for handling the exception</a:t>
            </a:r>
            <a:endParaRPr sz="1200" spc="-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Directives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535940" y="987297"/>
            <a:ext cx="8072120" cy="2146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p>
            <a:pPr marL="243840" marR="5080" indent="-231775">
              <a:lnSpc>
                <a:spcPct val="80000"/>
              </a:lnSpc>
              <a:spcBef>
                <a:spcPts val="530"/>
              </a:spcBef>
              <a:buChar char="•"/>
              <a:tabLst>
                <a:tab pos="243840" algn="l"/>
                <a:tab pos="244475" algn="l"/>
              </a:tabLst>
            </a:pPr>
            <a:endParaRPr sz="1200" spc="-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2"/>
          <p:cNvSpPr txBox="1"/>
          <p:nvPr/>
        </p:nvSpPr>
        <p:spPr>
          <a:xfrm>
            <a:off x="863269" y="743204"/>
            <a:ext cx="7183120" cy="259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directives are messages that tells the web container how to translate a JSP page into the corresponding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servlet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Types of directives are as follows: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page directive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include directive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taglib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directive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of JSP Directive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&lt;%@ directive attribute="value" %&gt; 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spc="-1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Page Directives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1035" y="1131570"/>
            <a:ext cx="808482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page directive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page directive defines attributes that apply to an entire JSP page.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Syntax of JSP page directive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&lt;%@ page attribute="value" %&gt; 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ym typeface="+mn-ea"/>
              </a:rPr>
              <a:t>Attributes of JSP page directive</a:t>
            </a:r>
            <a:endParaRPr lang="en-US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>
                <a:sym typeface="+mn-ea"/>
              </a:rPr>
              <a:t>import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 err="1">
                <a:sym typeface="+mn-ea"/>
              </a:rPr>
              <a:t>contentType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>
                <a:sym typeface="+mn-ea"/>
              </a:rPr>
              <a:t>buffer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>
                <a:sym typeface="+mn-ea"/>
              </a:rPr>
              <a:t>language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 err="1">
                <a:sym typeface="+mn-ea"/>
              </a:rPr>
              <a:t>isELIgnored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 err="1">
                <a:sym typeface="+mn-ea"/>
              </a:rPr>
              <a:t>pageEncoding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 err="1">
                <a:sym typeface="+mn-ea"/>
              </a:rPr>
              <a:t>errorPage</a:t>
            </a:r>
            <a:endParaRPr lang="en-US" b="1" dirty="0"/>
          </a:p>
          <a:p>
            <a:pPr marL="243840" indent="-231775">
              <a:lnSpc>
                <a:spcPct val="100000"/>
              </a:lnSpc>
              <a:spcBef>
                <a:spcPts val="105"/>
              </a:spcBef>
              <a:buChar char="•"/>
              <a:tabLst>
                <a:tab pos="243840" algn="l"/>
                <a:tab pos="244475" algn="l"/>
              </a:tabLst>
            </a:pPr>
            <a:r>
              <a:rPr lang="en-US" b="1" dirty="0" err="1">
                <a:sym typeface="+mn-ea"/>
              </a:rPr>
              <a:t>isErrorPage</a:t>
            </a:r>
            <a:endParaRPr lang="en-US" b="1" dirty="0"/>
          </a:p>
          <a:p>
            <a:pPr>
              <a:buNone/>
            </a:pPr>
            <a:endParaRPr lang="en-US" dirty="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JSP Include Directives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1035" y="1131570"/>
            <a:ext cx="8084820" cy="28917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Include Directive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include directive is used to include the contents of any resource it may be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file, html file or text file.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include directive includes the original content of the included resource at page translation time (the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page is translated only once so it will be better to include static resource).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ym typeface="+mn-ea"/>
              </a:rPr>
              <a:t>Advantage of Include directive</a:t>
            </a:r>
            <a:endParaRPr lang="en-US" b="1" dirty="0"/>
          </a:p>
          <a:p>
            <a:pPr>
              <a:buNone/>
            </a:pPr>
            <a:r>
              <a:rPr lang="en-US" dirty="0">
                <a:sym typeface="+mn-ea"/>
              </a:rPr>
              <a:t>Code Reusability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+mn-ea"/>
              </a:rPr>
              <a:t>Syntax of include directive</a:t>
            </a:r>
            <a:endParaRPr lang="en-US" b="1" dirty="0"/>
          </a:p>
          <a:p>
            <a:pPr>
              <a:buNone/>
            </a:pPr>
            <a:r>
              <a:rPr lang="en-US" dirty="0">
                <a:sym typeface="+mn-ea"/>
              </a:rPr>
              <a:t>&lt;%@ include file="</a:t>
            </a:r>
            <a:r>
              <a:rPr lang="en-US" dirty="0" err="1">
                <a:sym typeface="+mn-ea"/>
              </a:rPr>
              <a:t>resourceName</a:t>
            </a:r>
            <a:r>
              <a:rPr lang="en-US" dirty="0">
                <a:sym typeface="+mn-ea"/>
              </a:rPr>
              <a:t>" %&gt;  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32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Taglib Directives</a:t>
              </a:r>
              <a:endParaRPr lang="en-IN" alt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780415" y="1131570"/>
            <a:ext cx="7727315" cy="170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b="1" spc="-7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1035" y="1131570"/>
            <a:ext cx="808482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en-US" b="1" dirty="0" err="1">
                <a:sym typeface="+mn-ea"/>
              </a:rPr>
              <a:t>Taglib</a:t>
            </a:r>
            <a:r>
              <a:rPr lang="en-US" b="1" dirty="0">
                <a:sym typeface="+mn-ea"/>
              </a:rPr>
              <a:t> Directive</a:t>
            </a:r>
            <a:endParaRPr lang="en-US" b="1" dirty="0"/>
          </a:p>
          <a:p>
            <a:pPr>
              <a:buNone/>
            </a:pPr>
            <a:r>
              <a:rPr lang="en-US" dirty="0">
                <a:sym typeface="+mn-ea"/>
              </a:rPr>
              <a:t>This directive basically allows user to use Custom tags in JSP. we shall discuss about Custom tags in detail in coming JSP tutorials.  </a:t>
            </a:r>
            <a:r>
              <a:rPr lang="en-US" dirty="0" err="1">
                <a:sym typeface="+mn-ea"/>
              </a:rPr>
              <a:t>Taglib</a:t>
            </a:r>
            <a:r>
              <a:rPr lang="en-US" dirty="0">
                <a:sym typeface="+mn-ea"/>
              </a:rPr>
              <a:t> directive helps you to declare custom tags in JSP page.</a:t>
            </a:r>
            <a:endParaRPr lang="en-US" dirty="0"/>
          </a:p>
          <a:p>
            <a:pPr>
              <a:buNone/>
            </a:pPr>
            <a:r>
              <a:rPr lang="en-US" b="1" dirty="0">
                <a:sym typeface="+mn-ea"/>
              </a:rPr>
              <a:t>Syntax of </a:t>
            </a:r>
            <a:r>
              <a:rPr lang="en-US" b="1" dirty="0" err="1">
                <a:sym typeface="+mn-ea"/>
              </a:rPr>
              <a:t>Taglib</a:t>
            </a:r>
            <a:r>
              <a:rPr lang="en-US" b="1" dirty="0">
                <a:sym typeface="+mn-ea"/>
              </a:rPr>
              <a:t> Directive:</a:t>
            </a:r>
            <a:endParaRPr lang="en-US" dirty="0"/>
          </a:p>
          <a:p>
            <a:pPr>
              <a:buNone/>
            </a:pPr>
            <a:r>
              <a:rPr lang="en-US" dirty="0">
                <a:sym typeface="+mn-ea"/>
              </a:rPr>
              <a:t>&lt;%@</a:t>
            </a:r>
            <a:r>
              <a:rPr lang="en-US" dirty="0" err="1">
                <a:sym typeface="+mn-ea"/>
              </a:rPr>
              <a:t>taglib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uri</a:t>
            </a:r>
            <a:r>
              <a:rPr lang="en-US" dirty="0">
                <a:sym typeface="+mn-ea"/>
              </a:rPr>
              <a:t> ="</a:t>
            </a:r>
            <a:r>
              <a:rPr lang="en-US" dirty="0" err="1">
                <a:sym typeface="+mn-ea"/>
              </a:rPr>
              <a:t>taglibURI</a:t>
            </a:r>
            <a:r>
              <a:rPr lang="en-US" dirty="0">
                <a:sym typeface="+mn-ea"/>
              </a:rPr>
              <a:t>" prefix="tag prefix"%&gt;Where URI is uniform resource locator, which is used to identify the location of custom tag and tag prefix is a string which can identify the custom tag in the location identified by </a:t>
            </a:r>
            <a:r>
              <a:rPr lang="en-US" dirty="0" err="1">
                <a:sym typeface="+mn-ea"/>
              </a:rPr>
              <a:t>uri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ym typeface="+mn-ea"/>
              </a:rPr>
              <a:t>Example of </a:t>
            </a:r>
            <a:r>
              <a:rPr lang="en-US" b="1" dirty="0" err="1">
                <a:sym typeface="+mn-ea"/>
              </a:rPr>
              <a:t>Targlib</a:t>
            </a:r>
            <a:r>
              <a:rPr lang="en-US" b="1" dirty="0">
                <a:sym typeface="+mn-ea"/>
              </a:rPr>
              <a:t>:</a:t>
            </a:r>
            <a:endParaRPr lang="en-US" dirty="0"/>
          </a:p>
          <a:p>
            <a:pPr>
              <a:buNone/>
            </a:pPr>
            <a:r>
              <a:rPr lang="en-US" dirty="0">
                <a:sym typeface="+mn-ea"/>
              </a:rPr>
              <a:t>&lt;%@ </a:t>
            </a:r>
            <a:r>
              <a:rPr lang="en-US" dirty="0" err="1">
                <a:sym typeface="+mn-ea"/>
              </a:rPr>
              <a:t>taglib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uri</a:t>
            </a:r>
            <a:r>
              <a:rPr lang="en-US" dirty="0">
                <a:sym typeface="+mn-ea"/>
              </a:rPr>
              <a:t>="http://www.sample.com/mycustomlib" prefix="</a:t>
            </a:r>
            <a:r>
              <a:rPr lang="en-US" dirty="0" err="1">
                <a:sym typeface="+mn-ea"/>
              </a:rPr>
              <a:t>demotag</a:t>
            </a:r>
            <a:r>
              <a:rPr lang="en-US" dirty="0">
                <a:sym typeface="+mn-ea"/>
              </a:rPr>
              <a:t>" %&gt; &lt;html&gt; &lt;body&gt; &lt;</a:t>
            </a:r>
            <a:r>
              <a:rPr lang="en-US" dirty="0" err="1">
                <a:sym typeface="+mn-ea"/>
              </a:rPr>
              <a:t>demotag:welcome</a:t>
            </a:r>
            <a:r>
              <a:rPr lang="en-US" dirty="0">
                <a:sym typeface="+mn-ea"/>
              </a:rPr>
              <a:t>/&gt; &lt;/body&gt; &lt;/html&gt;As you can see that </a:t>
            </a:r>
            <a:r>
              <a:rPr lang="en-US" dirty="0" err="1">
                <a:sym typeface="+mn-ea"/>
              </a:rPr>
              <a:t>uri</a:t>
            </a:r>
            <a:r>
              <a:rPr lang="en-US" dirty="0">
                <a:sym typeface="+mn-ea"/>
              </a:rPr>
              <a:t> is having the location of custom tag library and prefix is identifying the prefix of custom tag.</a:t>
            </a:r>
            <a:br>
              <a:rPr lang="en-US" dirty="0">
                <a:sym typeface="+mn-ea"/>
              </a:rPr>
            </a:br>
            <a:r>
              <a:rPr lang="en-US" dirty="0">
                <a:sym typeface="+mn-ea"/>
              </a:rPr>
              <a:t>Note: In above example – &lt;</a:t>
            </a:r>
            <a:r>
              <a:rPr lang="en-US" dirty="0" err="1">
                <a:sym typeface="+mn-ea"/>
              </a:rPr>
              <a:t>demotag</a:t>
            </a:r>
            <a:r>
              <a:rPr lang="en-US" dirty="0">
                <a:sym typeface="+mn-ea"/>
              </a:rPr>
              <a:t>: welcome&gt; has a prefix </a:t>
            </a:r>
            <a:r>
              <a:rPr lang="en-US" dirty="0" err="1">
                <a:sym typeface="+mn-ea"/>
              </a:rPr>
              <a:t>demotag</a:t>
            </a:r>
            <a:r>
              <a:rPr lang="en-US" dirty="0">
                <a:sym typeface="+mn-ea"/>
              </a:rPr>
              <a:t>.</a:t>
            </a:r>
            <a:endParaRPr lang="en-US" dirty="0"/>
          </a:p>
          <a:p>
            <a:pPr>
              <a:buNone/>
            </a:pPr>
            <a:endParaRPr lang="en-US" dirty="0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8;p2"/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3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4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IN" alt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Applications of the Topic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5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Google Shape;113;p2"/>
          <p:cNvSpPr txBox="1"/>
          <p:nvPr/>
        </p:nvSpPr>
        <p:spPr>
          <a:xfrm>
            <a:off x="885190" y="1101090"/>
            <a:ext cx="7724140" cy="279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Result Calculator Page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Uses JSP declaration to define a reusable method for calculating percentages.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Dynamic Page Settings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Uses JSP directives (&lt;%@ page %&gt;) to import Java classes or define content type.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Login Welcome Page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Uses JSP scriptlets to fetch and display session data like username dynamically.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Date-Time Display Page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0" indent="457200">
              <a:buFont typeface="Arial" panose="020B0604020202020204" pitchFamily="34" charset="0"/>
              <a:buNone/>
            </a:pPr>
            <a:r>
              <a:rPr lang="en-US" altLang="en-US" sz="16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Uses scriptlets to fetch system date and display it on the page using Java code.</a:t>
            </a:r>
            <a:endParaRPr lang="en-US" altLang="en-US" sz="16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Summary of the Lecture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53085" y="1101090"/>
            <a:ext cx="843978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session, you were able to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kern="12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JSP declaration, JSP directives, JSP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Scriptlets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Next Lecture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85445" y="1421765"/>
            <a:ext cx="8465185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sv-SE" sz="2800" dirty="0">
                <a:sym typeface="+mn-ea"/>
              </a:rPr>
              <a:t>JSP include tag, JSP page tag</a:t>
            </a:r>
            <a:endParaRPr lang="en-US" altLang="en-US" sz="28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i="0" u="none" strike="noStrike" cap="none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Quiz/ 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FAQ’s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744910" y="79591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1. Which JSP directive is used to include a file?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A. &lt;%@ include %&gt;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B. &lt;jsp:include&gt;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C. &lt;% include %&gt;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D. &lt;%@ import %&gt;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2. Which is an example of a JSP implicit object?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A. request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B. servlet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C. object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  <a:p>
            <a:pPr marL="12065" marR="1045845" indent="0">
              <a:lnSpc>
                <a:spcPct val="100000"/>
              </a:lnSpc>
              <a:spcBef>
                <a:spcPts val="100"/>
              </a:spcBef>
              <a:buNone/>
              <a:tabLst>
                <a:tab pos="469900" algn="l"/>
                <a:tab pos="469900" algn="l"/>
                <a:tab pos="4130675" algn="l"/>
              </a:tabLst>
            </a:pPr>
            <a:r>
              <a:rPr lang="en-US" altLang="en-US" sz="1400" i="0" u="none" strike="noStrike" cap="none" spc="-5" dirty="0">
                <a:solidFill>
                  <a:schemeClr val="bg2"/>
                </a:solidFill>
                <a:latin typeface="Arial" panose="020B0604020202020204"/>
                <a:ea typeface="Times New Roman" panose="02020603050405020304"/>
                <a:cs typeface="Arial" panose="020B0604020202020204"/>
                <a:sym typeface="+mn-ea"/>
              </a:rPr>
              <a:t>D. include</a:t>
            </a:r>
            <a:endParaRPr lang="en-US" altLang="en-US" sz="1400" i="0" u="none" strike="noStrike" cap="none" spc="-5" dirty="0">
              <a:solidFill>
                <a:schemeClr val="bg2"/>
              </a:solidFill>
              <a:latin typeface="Arial" panose="020B0604020202020204"/>
              <a:ea typeface="Times New Roman" panose="02020603050405020304"/>
              <a:cs typeface="Arial" panose="020B0604020202020204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4855" y="4036060"/>
            <a:ext cx="648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Should scriptlets be used in modern JSP?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What is a JSP scriptlet?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 panose="020B0604020202020204"/>
                <a:buNone/>
              </a:pPr>
              <a:r>
                <a:rPr lang="en-US" sz="4000" b="1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eferences/ Articles/ Videos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3127" y="1101387"/>
            <a:ext cx="8942119" cy="338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Books: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Balaguruswamy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A Primer,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E.Balaguruswamy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Programming with Java,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Tata McGraw Hill Companies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John P. Flynt Thomson,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Java Programming.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 Links: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https://beginnersbook.com/2013/05/jsp-tutorial-directives/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https://docs.oracle.com/javaee/5/tutorial/doc/bnaou.html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https://beginnersbook.com/2013/05/jsp-tutorial-scriptlets/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https://www.geeksforgeeks.org/jsp-scriptlettag/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https://beginnersbook.com/2013/05/jsp-tutorial-directives/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https://beginnersbook.com/2013/11/jsp-declaration-tag/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Video Link: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0" i="0" u="sng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https://www.youtube.com/watch?v=7TOmdDJc14s&amp;list=PLsyeobzWxl7pUPF2xjjJiG4BKC9x_GY46</a:t>
            </a:r>
            <a:endParaRPr lang="en-US" altLang="en-US" b="0" i="0" u="sng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0" i="0" u="sng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https://www.youtube.com/watch?v=LlVcQhKGVbU&amp;t=22s</a:t>
            </a:r>
            <a:endParaRPr lang="en-US" altLang="en-US" b="0" i="0" u="sng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0" i="0" u="sng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https://www.youtube.com/watch?v=x6reS9CfW0U</a:t>
            </a:r>
            <a:endParaRPr lang="en-US" altLang="en-US" b="0" i="0" u="sng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  <a:endPara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0843" y="1907716"/>
            <a:ext cx="8942119" cy="125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https://onlinecourses.nptel.ac.in/noc22_cs47/preview</a:t>
            </a:r>
            <a:endParaRPr lang="en-US" alt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https://nptel.ac.in/courses/106105191</a:t>
            </a:r>
            <a:endParaRPr lang="en-US" alt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28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/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 panose="020B0604020202020204"/>
                </a:rPr>
                <a:t>Class-Wise </a:t>
              </a:r>
              <a:r>
                <a:rPr lang="en-IN" sz="4000" b="1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 panose="02020603050405020304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2600" b="0" i="0" u="none" strike="noStrike" cap="none" dirty="0" smtClean="0">
                <a:solidFill>
                  <a:schemeClr val="bg2"/>
                </a:solidFill>
                <a:latin typeface="Calibri" panose="020F0502020204030204" pitchFamily="34" charset="0"/>
                <a:ea typeface="Times New Roman" panose="02020603050405020304"/>
                <a:cs typeface="Calibri" panose="020F0502020204030204" pitchFamily="34" charset="0"/>
                <a:sym typeface="Times New Roman" panose="02020603050405020304"/>
              </a:rPr>
              <a:t>	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Thank You</a:t>
            </a:r>
            <a:endParaRPr lang="en-US" sz="8000" b="1" u="none" strike="noStrike" cap="none" dirty="0">
              <a:solidFill>
                <a:srgbClr val="FF0000"/>
              </a:solidFill>
              <a:latin typeface="Vladimir Script" panose="03050402040407070305" pitchFamily="66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500" y="3948192"/>
            <a:ext cx="4572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IN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devendra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.e1</a:t>
            </a:r>
            <a:r>
              <a:rPr lang="en-IN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8261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@cumail.in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422*200"/>
  <p:tag name="TABLE_ENDDRAG_RECT" val="116*181*422*200"/>
</p:tagLst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9707</Words>
  <Application>WPS Presentation</Application>
  <PresentationFormat>On-screen Show (16:9)</PresentationFormat>
  <Paragraphs>397</Paragraphs>
  <Slides>29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SimSun</vt:lpstr>
      <vt:lpstr>Wingdings</vt:lpstr>
      <vt:lpstr>Arial</vt:lpstr>
      <vt:lpstr>Lato</vt:lpstr>
      <vt:lpstr>Cambria</vt:lpstr>
      <vt:lpstr>Calibri</vt:lpstr>
      <vt:lpstr>Arial Black</vt:lpstr>
      <vt:lpstr>Calibri</vt:lpstr>
      <vt:lpstr>Times New Roman</vt:lpstr>
      <vt:lpstr>Times New Roman</vt:lpstr>
      <vt:lpstr>Verdana</vt:lpstr>
      <vt:lpstr>Microsoft YaHei</vt:lpstr>
      <vt:lpstr>Arial Unicode MS</vt:lpstr>
      <vt:lpstr>Vladimir Script</vt:lpstr>
      <vt:lpstr>Streamline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WPS_1704364514</cp:lastModifiedBy>
  <cp:revision>159</cp:revision>
  <dcterms:created xsi:type="dcterms:W3CDTF">2025-06-03T08:04:00Z</dcterms:created>
  <dcterms:modified xsi:type="dcterms:W3CDTF">2025-06-20T07:26:52Z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5BD74C33DC12464AB10BF90262CD9AA1_13</vt:lpwstr>
  </property>
  <property fmtid="{D5CDD505-2E9C-101B-9397-08002B2CF9AE}" pid="3" name="KSOProductBuildVer">
    <vt:lpwstr>1033-12.2.0.21179</vt:lpwstr>
  </property>
</Properties>
</file>